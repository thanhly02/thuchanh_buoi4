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6" r:id="rId3"/>
    <p:sldId id="277" r:id="rId4"/>
    <p:sldId id="278" r:id="rId5"/>
    <p:sldId id="280" r:id="rId6"/>
    <p:sldId id="282" r:id="rId7"/>
    <p:sldId id="283" r:id="rId8"/>
    <p:sldId id="288" r:id="rId9"/>
    <p:sldId id="289" r:id="rId10"/>
    <p:sldId id="290" r:id="rId11"/>
    <p:sldId id="291" r:id="rId12"/>
    <p:sldId id="293" r:id="rId13"/>
    <p:sldId id="294" r:id="rId14"/>
    <p:sldId id="295" r:id="rId15"/>
    <p:sldId id="296" r:id="rId16"/>
  </p:sldIdLst>
  <p:sldSz cx="9144000" cy="6858000" type="screen4x3"/>
  <p:notesSz cx="6858000" cy="9144000"/>
  <p:custShowLst>
    <p:custShow name="KHTN" id="0">
      <p:sldLst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6"/>
      </p:sldLst>
    </p:custShow>
    <p:custShow name="CNTT" id="1">
      <p:sldLst>
        <p:sld r:id="rId3"/>
        <p:sld r:id="rId4"/>
        <p:sld r:id="rId5"/>
        <p:sld r:id="rId6"/>
        <p:sld r:id="rId7"/>
        <p:sld r:id="rId12"/>
        <p:sld r:id="rId13"/>
        <p:sld r:id="rId14"/>
        <p:sld r:id="rId15"/>
        <p:sld r:id="rId16"/>
      </p:sldLst>
    </p:custShow>
  </p:custShowLst>
  <p:custDataLst>
    <p:tags r:id="rId21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94686" autoAdjust="0"/>
  </p:normalViewPr>
  <p:slideViewPr>
    <p:cSldViewPr showGuides="1">
      <p:cViewPr varScale="1">
        <p:scale>
          <a:sx n="98" d="100"/>
          <a:sy n="98" d="100"/>
        </p:scale>
        <p:origin x="594" y="-90"/>
      </p:cViewPr>
      <p:guideLst>
        <p:guide orient="horz" pos="2160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BF3-15EE-4D66-BBBD-417AD3B71876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A182F-9307-4218-A7A9-4B17C4523175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DC172-AF92-41FF-9A12-9AF8D80B70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C5284-EBCB-4F62-8CB9-5EDB9EC31A77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F2134-1270-49B7-B78B-0E3B8187AA1D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83D51-E84D-44DF-9D1B-A4C8DBB420D5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E5924-9DA6-4B78-AF5D-305F2DBC254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64C2-11D5-4BED-8FD4-AE1F7A2D56F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45B8-F3CA-4E9C-AEB2-95721853715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7AFA-3AA1-48E8-83F5-92F84D788587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3B9C-969A-4235-A44C-6BF2792E62B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389D14C-F7F1-4EB7-9CD8-E00AD9CA7FEE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fld id="{A71B45B8-F3CA-4E9C-AEB2-957218537152}" type="slidenum">
              <a:rPr lang="en-US" smtClean="0"/>
            </a:fld>
            <a:endParaRPr lang="en-US"/>
          </a:p>
        </p:txBody>
      </p:sp>
      <p:pic>
        <p:nvPicPr>
          <p:cNvPr id="7" name="Picture 6" descr="Logo-Ctu"/>
          <p:cNvPicPr>
            <a:picLocks noChangeAspect="1"/>
          </p:cNvPicPr>
          <p:nvPr userDrawn="1"/>
        </p:nvPicPr>
        <p:blipFill>
          <a:blip r:embed="rId20">
            <a:alphaModFix amt="50000"/>
          </a:blip>
          <a:stretch>
            <a:fillRect/>
          </a:stretch>
        </p:blipFill>
        <p:spPr>
          <a:xfrm>
            <a:off x="6705600" y="618490"/>
            <a:ext cx="1651000" cy="165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charset="0"/>
          <a:ea typeface="+mj-ea"/>
          <a:cs typeface="Times New Roman" panose="0202060305040502030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charset="0"/>
          <a:ea typeface="+mn-ea"/>
          <a:cs typeface="Times New Roman" panose="0202060305040502030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ahoma" panose="020B0604030504040204" charset="0"/>
        <a:buChar char="–"/>
        <a:defRPr sz="2800" kern="1200" cap="all" baseline="0">
          <a:solidFill>
            <a:schemeClr val="tx1"/>
          </a:solidFill>
          <a:effectLst/>
          <a:latin typeface="Times New Roman" panose="02020603050405020304" charset="0"/>
          <a:ea typeface="+mn-ea"/>
          <a:cs typeface="Times New Roman" panose="0202060305040502030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SimSun" panose="02010600030101010101" pitchFamily="2" charset="-122"/>
        <a:buChar char="＋"/>
        <a:defRPr sz="2400" kern="1200" cap="all" baseline="0">
          <a:solidFill>
            <a:schemeClr val="tx1"/>
          </a:solidFill>
          <a:effectLst/>
          <a:latin typeface="Times New Roman" panose="02020603050405020304" charset="0"/>
          <a:ea typeface="+mn-ea"/>
          <a:cs typeface="Times New Roman" panose="0202060305040502030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charset="0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charset="0"/>
          <a:ea typeface="+mn-ea"/>
          <a:cs typeface="Times New Roman" panose="0202060305040502030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charset="0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charset="0"/>
          <a:ea typeface="+mn-ea"/>
          <a:cs typeface="Times New Roman" panose="02020603050405020304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cit.ctu.edu.vn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vi-VN" altLang="en-US" sz="3555"/>
              <a:t>đại học cần th</a:t>
            </a:r>
            <a:r>
              <a:rPr lang="vi-VN" altLang="en-US" sz="3555"/>
              <a:t>Ơ - quá trình hình thành và phát triển</a:t>
            </a:r>
            <a:endParaRPr lang="vi-VN" altLang="en-US" sz="3555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>
              <a:lnSpc>
                <a:spcPct val="180000"/>
              </a:lnSpc>
            </a:pPr>
            <a:r>
              <a:rPr lang="vi-VN" altLang="en-US"/>
              <a:t>TS.NGUYỄN VĂN </a:t>
            </a:r>
            <a:r>
              <a:rPr lang="vi-VN" altLang="en-US"/>
              <a:t>A</a:t>
            </a:r>
            <a:endParaRPr lang="vi-V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D18FBF3-15EE-4D66-BBBD-417AD3B71876}" type="slidenum">
              <a:rPr lang="en-US" sz="2000" b="1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z="2000" b="1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z="2000" b="1">
                <a:latin typeface="Times New Roman" panose="02020603050405020304" charset="0"/>
                <a:cs typeface="Times New Roman" panose="02020603050405020304" charset="0"/>
              </a:rPr>
              <a:t>Giới thiệu Đại học Cần Thơ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sz="3000"/>
              <a:t>Nội dung</a:t>
            </a:r>
            <a:endParaRPr lang="vi-VN" altLang="en-US" sz="300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4530" y="2367280"/>
            <a:ext cx="7773670" cy="3423920"/>
          </a:xfrm>
        </p:spPr>
        <p:txBody>
          <a:bodyPr/>
          <a:p>
            <a:r>
              <a:rPr lang="vi-VN" altLang="en-US" sz="2500" b="1"/>
              <a:t>Thời kỳ viện đại học cần thơ (1966 - 1975)</a:t>
            </a:r>
            <a:endParaRPr lang="vi-VN" altLang="en-US" sz="2500" b="1"/>
          </a:p>
          <a:p>
            <a:r>
              <a:rPr lang="vi-VN" altLang="en-US" sz="2500" b="1">
                <a:sym typeface="+mn-ea"/>
              </a:rPr>
              <a:t>ĐẠI HỌC CẦN THƠ SAU 1975</a:t>
            </a:r>
            <a:endParaRPr lang="vi-VN" altLang="en-US" sz="2500" b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THỜI KÌ VIỆN ĐẠI HỌC CẦN (1966-1975)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78815" y="2367280"/>
            <a:ext cx="7844790" cy="3423920"/>
          </a:xfrm>
        </p:spPr>
        <p:txBody>
          <a:bodyPr>
            <a:normAutofit fontScale="90000"/>
          </a:bodyPr>
          <a:p>
            <a:r>
              <a:rPr lang="vi-VN" altLang="en-US" sz="2780" smtClean="0">
                <a:sym typeface="+mn-ea"/>
              </a:rPr>
              <a:t>ĐƯỢC THÀNH LẬP NGÀY 31 THÁNG 03 NĂM 1966</a:t>
            </a:r>
            <a:endParaRPr lang="vi-VN" altLang="en-US" sz="2780" smtClean="0"/>
          </a:p>
          <a:p>
            <a:r>
              <a:rPr lang="vi-VN" altLang="en-US" sz="2780" smtClean="0">
                <a:sym typeface="+mn-ea"/>
              </a:rPr>
              <a:t>VIỆN ĐẠI HỌC CẦN THƠ CÓ 4 KHOA</a:t>
            </a:r>
            <a:endParaRPr lang="vi-VN" altLang="en-US" sz="2500" smtClean="0">
              <a:sym typeface="+mn-ea"/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445">
                <a:sym typeface="+mn-ea"/>
              </a:rPr>
              <a:t>KHOA HỌC</a:t>
            </a:r>
            <a:endParaRPr lang="vi-VN" altLang="en-US" sz="2445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445">
                <a:sym typeface="+mn-ea"/>
              </a:rPr>
              <a:t>LUẬT KHOA </a:t>
            </a:r>
            <a:endParaRPr lang="vi-VN" altLang="en-US" sz="2445">
              <a:sym typeface="+mn-ea"/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445">
                <a:sym typeface="+mn-ea"/>
              </a:rPr>
              <a:t>KHOA HỌC XÃ HỘI, VĂN KHOA, SƯ PHẠM</a:t>
            </a:r>
            <a:endParaRPr lang="vi-VN" altLang="en-US" sz="2445">
              <a:sym typeface="+mn-ea"/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445">
                <a:sym typeface="+mn-ea"/>
              </a:rPr>
              <a:t>CAO ĐẲNG NÔNG VÀ TRUNG TÂM SINH NGỮ</a:t>
            </a:r>
            <a:endParaRPr lang="en-US" sz="2500"/>
          </a:p>
          <a:p>
            <a:pPr lvl="1">
              <a:buFont typeface="Arial" panose="020B0604020202020204" pitchFamily="34" charset="0"/>
            </a:pPr>
            <a:endParaRPr lang="en-US" sz="2500"/>
          </a:p>
          <a:p>
            <a:pPr lvl="1">
              <a:buFont typeface="Arial" panose="020B0604020202020204" pitchFamily="34" charset="0"/>
            </a:pPr>
            <a:endParaRPr lang="en-US" sz="25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THỜI KÌ VIỆN ĐẠI HỌC CẦN (1966-1975)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78815" y="2367280"/>
            <a:ext cx="7844790" cy="3423920"/>
          </a:xfrm>
        </p:spPr>
        <p:txBody>
          <a:bodyPr>
            <a:normAutofit/>
          </a:bodyPr>
          <a:p>
            <a:r>
              <a:rPr lang="vi-VN" altLang="en-US" sz="2500">
                <a:sym typeface="+mn-ea"/>
              </a:rPr>
              <a:t>CƠ SỞ VẬT CHẤT CỦA VIỆN ĐẠI CẦN THƠ TỌA LẠC TRÊN 4 ĐỊA ĐIỂM</a:t>
            </a:r>
            <a:endParaRPr lang="vi-VN" altLang="en-US" sz="2500"/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TÒA VIỆN TRƯỞNG(SỐ 5, ĐẠI LỘ HÒA BÌNH)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KHU I (ĐƯỜNG 30/4)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KHU II (ĐƯỜNG 3/2)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KHU III (SỐ 1, LÝ TỰ TRỌNG)</a:t>
            </a:r>
            <a:endParaRPr lang="vi-VN" altLang="en-US" sz="2200">
              <a:solidFill>
                <a:schemeClr val="tx1"/>
              </a:solidFill>
            </a:endParaRPr>
          </a:p>
          <a:p>
            <a:endParaRPr lang="en-US" sz="2200"/>
          </a:p>
          <a:p>
            <a:pPr lvl="1">
              <a:buFont typeface="Arial" panose="020B0604020202020204" pitchFamily="34" charset="0"/>
            </a:pPr>
            <a:endParaRPr lang="en-US" sz="2500"/>
          </a:p>
          <a:p>
            <a:pPr lvl="1">
              <a:buFont typeface="Arial" panose="020B0604020202020204" pitchFamily="34" charset="0"/>
            </a:pPr>
            <a:endParaRPr lang="en-US" sz="25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78815" y="2367280"/>
            <a:ext cx="7844790" cy="3423920"/>
          </a:xfrm>
        </p:spPr>
        <p:txBody>
          <a:bodyPr>
            <a:normAutofit/>
          </a:bodyPr>
          <a:p>
            <a:r>
              <a:rPr lang="vi-VN" altLang="en-US" sz="2500">
                <a:sym typeface="+mn-ea"/>
              </a:rPr>
              <a:t>VIỆN ĐẠI HỌC CẦN THƠ ĐƯỢC BỒI THÀNH ĐHCT</a:t>
            </a:r>
            <a:endParaRPr lang="vi-VN" altLang="en-US" sz="2500"/>
          </a:p>
          <a:p>
            <a:r>
              <a:rPr lang="vi-VN" altLang="en-US" sz="2500">
                <a:sym typeface="+mn-ea"/>
              </a:rPr>
              <a:t>CƠ CẤU ĐHCT HIỆN NAY</a:t>
            </a:r>
            <a:endParaRPr lang="vi-VN" altLang="en-US" sz="2500"/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KHOA - VIỆN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TRUNG TÂM -TRUNG TÂM ĐÀO TẠO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PHÒNG BAN CHỨC NĂNG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ĐOÀN THỂ &amp; HỘI</a:t>
            </a:r>
            <a:endParaRPr lang="vi-VN" altLang="en-US" sz="2500">
              <a:solidFill>
                <a:schemeClr val="tx1"/>
              </a:solidFill>
            </a:endParaRPr>
          </a:p>
          <a:p>
            <a:endParaRPr lang="en-US" sz="2500"/>
          </a:p>
          <a:p>
            <a:pPr lvl="1">
              <a:buFont typeface="Arial" panose="020B0604020202020204" pitchFamily="34" charset="0"/>
            </a:pPr>
            <a:endParaRPr lang="en-US" sz="2500"/>
          </a:p>
          <a:p>
            <a:pPr lvl="1">
              <a:buFont typeface="Arial" panose="020B0604020202020204" pitchFamily="34" charset="0"/>
            </a:pPr>
            <a:endParaRPr lang="en-US" sz="25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1985" y="2367280"/>
            <a:ext cx="7881620" cy="3340100"/>
          </a:xfrm>
        </p:spPr>
        <p:txBody>
          <a:bodyPr>
            <a:normAutofit lnSpcReduction="20000"/>
          </a:bodyPr>
          <a:p>
            <a:pPr>
              <a:lnSpc>
                <a:spcPct val="160000"/>
              </a:lnSpc>
            </a:pPr>
            <a:r>
              <a:rPr lang="vi-VN" altLang="en-US" sz="2500" b="1">
                <a:solidFill>
                  <a:srgbClr val="FF0000"/>
                </a:solidFill>
                <a:sym typeface="+mn-ea"/>
              </a:rPr>
              <a:t>KHOA KHOA HỌC TỰ NHIÊN</a:t>
            </a:r>
            <a:endParaRPr lang="vi-VN" altLang="en-US" sz="2500" b="1">
              <a:solidFill>
                <a:srgbClr val="FF0000"/>
              </a:solidFill>
            </a:endParaRPr>
          </a:p>
          <a:p>
            <a:pPr lvl="1">
              <a:lnSpc>
                <a:spcPct val="160000"/>
              </a:lnSpc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NGÀY 14/1/1998, TRƯỜNG ĐHCT KHÁNH THÀNH KHOA KHOA TỰ NHIÊN 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lnSpc>
                <a:spcPct val="160000"/>
              </a:lnSpc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CƠ SỞ VẬT CHẤT</a:t>
            </a:r>
            <a:endParaRPr lang="vi-VN" altLang="en-US" sz="2200">
              <a:solidFill>
                <a:schemeClr val="tx1"/>
              </a:solidFill>
            </a:endParaRPr>
          </a:p>
          <a:p>
            <a:pPr marL="914400" lvl="2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+ 12 PHÒNG THÍ NGHIỆM(PTN) CHO SINH, HÓA, VẬT LÝ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+ 06 PHÒNG MÁY TÍNH ĐƯỢC NỐI MẠNG VỚI NHAU</a:t>
            </a: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63575" y="2315210"/>
            <a:ext cx="8042275" cy="3489325"/>
          </a:xfrm>
        </p:spPr>
        <p:txBody>
          <a:bodyPr>
            <a:normAutofit fontScale="80000"/>
          </a:bodyPr>
          <a:p>
            <a:pPr>
              <a:lnSpc>
                <a:spcPct val="160000"/>
              </a:lnSpc>
            </a:pPr>
            <a:r>
              <a:rPr lang="vi-VN" altLang="en-US" sz="3125" b="1">
                <a:solidFill>
                  <a:srgbClr val="FF0000"/>
                </a:solidFill>
                <a:sym typeface="+mn-ea"/>
              </a:rPr>
              <a:t>KHOA KHOA HỌC TỰ NHIÊN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lnSpc>
                <a:spcPct val="160000"/>
              </a:lnSpc>
              <a:buFont typeface="Arial" panose="020B0604020202020204" pitchFamily="34" charset="0"/>
            </a:pPr>
            <a:r>
              <a:rPr lang="vi-VN" altLang="en-US" sz="2750">
                <a:sym typeface="+mn-ea"/>
              </a:rPr>
              <a:t>CƠ SỞ VẬT CHẤT</a:t>
            </a:r>
            <a:endParaRPr lang="vi-VN" altLang="en-US" sz="2750">
              <a:solidFill>
                <a:schemeClr val="tx1"/>
              </a:solidFill>
            </a:endParaRPr>
          </a:p>
          <a:p>
            <a:pPr marL="914400" lvl="2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</a:t>
            </a:r>
            <a:r>
              <a:rPr lang="vi-VN" altLang="en-US" sz="2500">
                <a:sym typeface="+mn-ea"/>
              </a:rPr>
              <a:t>VP KHOA VÀ XƯỞNG SỮA CHỮA</a:t>
            </a:r>
            <a:endParaRPr lang="vi-VN" altLang="en-US" sz="2500">
              <a:solidFill>
                <a:schemeClr val="tx1"/>
              </a:solidFill>
            </a:endParaRPr>
          </a:p>
          <a:p>
            <a:pPr marL="914400" lvl="2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vi-VN" altLang="en-US" sz="2500">
                <a:sym typeface="+mn-ea"/>
              </a:rPr>
              <a:t>+ </a:t>
            </a:r>
            <a:r>
              <a:rPr lang="vi-VN" altLang="en-US" sz="2500">
                <a:sym typeface="+mn-ea"/>
              </a:rPr>
              <a:t>NĂM 2010, XƯỞNG ĐÃ ĐẦU TƯ MỞ RỘNG KHU PTN CỦA KHOA</a:t>
            </a:r>
            <a:endParaRPr lang="vi-VN" altLang="en-US" sz="2500">
              <a:sym typeface="+mn-ea"/>
            </a:endParaRPr>
          </a:p>
          <a:p>
            <a:pPr marL="914400" lvl="2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vi-VN" altLang="en-US" sz="2500">
                <a:sym typeface="+mn-ea"/>
              </a:rPr>
              <a:t>+ </a:t>
            </a:r>
            <a:r>
              <a:rPr lang="vi-VN" altLang="en-US" sz="2500">
                <a:sym typeface="+mn-ea"/>
              </a:rPr>
              <a:t>XÂY MỚI KHU NHÀ 3 VỚI 22 PHÒNG</a:t>
            </a:r>
            <a:endParaRPr lang="vi-VN" altLang="en-US" sz="2500">
              <a:sym typeface="+mn-ea"/>
            </a:endParaRPr>
          </a:p>
          <a:p>
            <a:pPr marL="914400" lvl="2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en-US" sz="25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1985" y="2367280"/>
            <a:ext cx="7881620" cy="3340100"/>
          </a:xfrm>
        </p:spPr>
        <p:txBody>
          <a:bodyPr>
            <a:normAutofit lnSpcReduction="20000"/>
          </a:bodyPr>
          <a:p>
            <a:pPr>
              <a:lnSpc>
                <a:spcPct val="160000"/>
              </a:lnSpc>
            </a:pPr>
            <a:r>
              <a:rPr lang="vi-VN" altLang="en-US" sz="2500" b="1">
                <a:solidFill>
                  <a:srgbClr val="FF0000"/>
                </a:solidFill>
                <a:sym typeface="+mn-ea"/>
              </a:rPr>
              <a:t>KHOA KHOA HỌC TỰ NHIÊN</a:t>
            </a:r>
            <a:endParaRPr lang="vi-VN" altLang="en-US" sz="2500" b="1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000">
                <a:sym typeface="+mn-ea"/>
              </a:rPr>
              <a:t>KHOA KHTN HIỆN NAY GỒM 4 BỘ MÔN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SINH HỌC 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HÓA HỌC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TOÁN HỌC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VẬT LÝ</a:t>
            </a: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1985" y="2367280"/>
            <a:ext cx="7881620" cy="3340100"/>
          </a:xfrm>
        </p:spPr>
        <p:txBody>
          <a:bodyPr>
            <a:normAutofit/>
          </a:bodyPr>
          <a:p>
            <a:pPr>
              <a:lnSpc>
                <a:spcPct val="160000"/>
              </a:lnSpc>
            </a:pPr>
            <a:r>
              <a:rPr lang="vi-VN" altLang="en-US" sz="2500" b="1">
                <a:solidFill>
                  <a:srgbClr val="FF0000"/>
                </a:solidFill>
                <a:sym typeface="+mn-ea"/>
              </a:rPr>
              <a:t>KHOA KHOA HỌC TỰ NHIÊN</a:t>
            </a:r>
            <a:endParaRPr lang="vi-VN" altLang="en-US" sz="2500" b="1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CÔNG TÁC ĐÀO TẠO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ĐẠI HỌC: ....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SĐH: ...</a:t>
            </a:r>
            <a:endParaRPr lang="vi-VN" altLang="en-US" sz="2000">
              <a:solidFill>
                <a:schemeClr val="tx1"/>
              </a:solidFill>
            </a:endParaRPr>
          </a:p>
          <a:p>
            <a:pPr lvl="1">
              <a:buFont typeface="Tahoma" panose="020B0604030504040204" charset="0"/>
              <a:buChar char="–"/>
            </a:pPr>
            <a:r>
              <a:rPr lang="vi-VN" altLang="en-US" sz="2200">
                <a:sym typeface="+mn-ea"/>
              </a:rPr>
              <a:t>CÔNG TÁC NCKH, BÁO CÁO CHUYÊN ĐỀ: ...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buFont typeface="Tahoma" panose="020B0604030504040204" charset="0"/>
              <a:buChar char="–"/>
            </a:pPr>
            <a:r>
              <a:rPr lang="vi-VN" altLang="en-US" sz="2200">
                <a:sym typeface="+mn-ea"/>
              </a:rPr>
              <a:t>CÔNG TÁC ĐÀO TẠO VÀ BỒI DƯỠNG CÁN BỘ: ...</a:t>
            </a:r>
            <a:endParaRPr lang="en-US" sz="2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1985" y="2367280"/>
            <a:ext cx="7881620" cy="3340100"/>
          </a:xfrm>
        </p:spPr>
        <p:txBody>
          <a:bodyPr>
            <a:normAutofit/>
          </a:bodyPr>
          <a:p>
            <a:pPr>
              <a:lnSpc>
                <a:spcPct val="160000"/>
              </a:lnSpc>
            </a:pPr>
            <a:r>
              <a:rPr lang="vi-VN" altLang="en-US" sz="2500">
                <a:sym typeface="+mn-ea"/>
                <a:hlinkClick r:id="rId1" tooltip=""/>
              </a:rPr>
              <a:t>KHOA CNTT &amp; </a:t>
            </a:r>
            <a:r>
              <a:rPr lang="vi-VN" altLang="en-US" sz="2500" u="heavy">
                <a:sym typeface="+mn-ea"/>
                <a:hlinkClick r:id="rId1" tooltip=""/>
              </a:rPr>
              <a:t>TT</a:t>
            </a:r>
            <a:endParaRPr lang="vi-VN" altLang="en-US" sz="2500" u="heavy"/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ĐƯỢC THÀNH LẬP NĂM 1994 TRÊN CƠ SỞ TRUNG TÂM ĐIỆN TỬ VÀ TIN HỌC</a:t>
            </a:r>
            <a:endParaRPr lang="vi-VN" altLang="en-US" sz="22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NHIỆM VỤ CỦA KHOA LÀ ĐÀO TẠO</a:t>
            </a:r>
            <a:endParaRPr lang="vi-VN" altLang="en-US" sz="2200" u="heavy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200">
                <a:sym typeface="+mn-ea"/>
              </a:rPr>
              <a:t>+ </a:t>
            </a:r>
            <a:r>
              <a:rPr lang="vi-VN" altLang="en-US" sz="2000">
                <a:sym typeface="+mn-ea"/>
              </a:rPr>
              <a:t>ĐẠI HỌC VÀ SAU ĐẠI HỌC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NCKH VÀ CHUYỂN GIAO CÔNG NGHỆN TRONG LĨNH VỰC CNTT &amp; TT</a:t>
            </a:r>
            <a:r>
              <a:rPr lang="vi-VN" altLang="en-US" sz="2000" u="heavy">
                <a:sym typeface="+mn-ea"/>
              </a:rPr>
              <a:t> </a:t>
            </a:r>
            <a:endParaRPr lang="vi-VN" altLang="en-US" sz="2000" u="heavy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vi-VN" altLang="en-US" sz="220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en-US" sz="2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1985" y="2367280"/>
            <a:ext cx="7881620" cy="3340100"/>
          </a:xfrm>
        </p:spPr>
        <p:txBody>
          <a:bodyPr>
            <a:normAutofit/>
          </a:bodyPr>
          <a:p>
            <a:pPr>
              <a:lnSpc>
                <a:spcPct val="160000"/>
              </a:lnSpc>
            </a:pPr>
            <a:r>
              <a:rPr lang="vi-VN" altLang="en-US" sz="2500">
                <a:solidFill>
                  <a:schemeClr val="accent1">
                    <a:lumMod val="75000"/>
                  </a:schemeClr>
                </a:solidFill>
                <a:sym typeface="+mn-ea"/>
              </a:rPr>
              <a:t>KHOA CNTT &amp; TT</a:t>
            </a:r>
            <a:endParaRPr lang="vi-VN" altLang="en-US" sz="2500"/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TẦM NHÌN ĐẾN NĂM 2020</a:t>
            </a:r>
            <a:endParaRPr lang="vi-VN" altLang="en-US" sz="22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200">
                <a:sym typeface="+mn-ea"/>
              </a:rPr>
              <a:t>+ </a:t>
            </a:r>
            <a:r>
              <a:rPr lang="vi-VN" altLang="en-US" sz="2000">
                <a:sym typeface="+mn-ea"/>
              </a:rPr>
              <a:t>ĐƠN VỊ ĐÀO TẠO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NGHIÊN CỨU KHOAN HỌC VỀ CNTT&amp;TT MẠNH CỦA CẢ NƯỚC</a:t>
            </a:r>
            <a:endParaRPr lang="vi-VN" altLang="en-US" sz="200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1985" y="2367280"/>
            <a:ext cx="7881620" cy="3340100"/>
          </a:xfrm>
        </p:spPr>
        <p:txBody>
          <a:bodyPr>
            <a:normAutofit lnSpcReduction="10000"/>
          </a:bodyPr>
          <a:p>
            <a:pPr>
              <a:lnSpc>
                <a:spcPct val="160000"/>
              </a:lnSpc>
            </a:pPr>
            <a:r>
              <a:rPr lang="vi-VN" altLang="en-US" sz="2500">
                <a:solidFill>
                  <a:schemeClr val="accent1">
                    <a:lumMod val="75000"/>
                  </a:schemeClr>
                </a:solidFill>
                <a:sym typeface="+mn-ea"/>
              </a:rPr>
              <a:t>KHOA CNTT &amp; TT</a:t>
            </a:r>
            <a:endParaRPr lang="vi-VN" altLang="en-US" sz="2500"/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CÁC BỘ MÔN VÀ TRUNG TÂM</a:t>
            </a:r>
            <a:endParaRPr lang="vi-VN" altLang="en-US" sz="2200" u="heavy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HỆ THỐNG THÔNG TIN</a:t>
            </a:r>
            <a:endParaRPr lang="vi-VN" altLang="en-US" sz="2000" u="heavy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DẠNG MÁY TÍNH &amp; TRUYỀN THÔNG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CÔNG NGHỆ PHẦN MỀM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KHOA HỌC PHẦN MỀM </a:t>
            </a:r>
            <a:endParaRPr lang="vi-VN" altLang="en-US" sz="200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18490"/>
            <a:ext cx="7923530" cy="1596390"/>
          </a:xfrm>
        </p:spPr>
        <p:txBody>
          <a:bodyPr/>
          <a:p>
            <a:r>
              <a:rPr lang="vi-VN" altLang="en-US" sz="3000">
                <a:sym typeface="+mn-ea"/>
              </a:rPr>
              <a:t>ĐHCT GIAI ĐOẠN SAU 1975</a:t>
            </a:r>
            <a:endParaRPr lang="vi-VN" altLang="en-US" sz="30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1985" y="2367280"/>
            <a:ext cx="7881620" cy="3340100"/>
          </a:xfrm>
        </p:spPr>
        <p:txBody>
          <a:bodyPr>
            <a:normAutofit lnSpcReduction="10000"/>
          </a:bodyPr>
          <a:p>
            <a:pPr>
              <a:lnSpc>
                <a:spcPct val="160000"/>
              </a:lnSpc>
            </a:pPr>
            <a:r>
              <a:rPr lang="vi-VN" altLang="en-US" sz="2500">
                <a:solidFill>
                  <a:schemeClr val="accent1">
                    <a:lumMod val="75000"/>
                  </a:schemeClr>
                </a:solidFill>
                <a:sym typeface="+mn-ea"/>
              </a:rPr>
              <a:t>KHOA CNTT &amp; TT</a:t>
            </a:r>
            <a:endParaRPr lang="vi-VN" altLang="en-US" sz="2500"/>
          </a:p>
          <a:p>
            <a:pPr lvl="1">
              <a:buFont typeface="Arial" panose="020B0604020202020204" pitchFamily="34" charset="0"/>
            </a:pPr>
            <a:r>
              <a:rPr lang="vi-VN" altLang="en-US" sz="2200">
                <a:sym typeface="+mn-ea"/>
              </a:rPr>
              <a:t>CÁC BỘ MÔN VÀTRUNG TÂM</a:t>
            </a:r>
            <a:endParaRPr lang="vi-VN" altLang="en-US" sz="22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CÔNG NGHỆ THÔNG TIN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BỘ MÔN TIN HỌC ỨNG DỤNG 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TỔ VĂN PHÒNG </a:t>
            </a:r>
            <a:endParaRPr lang="vi-VN" altLang="en-US" sz="20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 sz="2000">
                <a:sym typeface="+mn-ea"/>
              </a:rPr>
              <a:t>+ TRUNG TÂM ĐIỆN TỬ &amp; TIN HỌC  </a:t>
            </a:r>
            <a:endParaRPr lang="vi-VN" altLang="en-US" sz="200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/>
              <a:t> </a:t>
            </a:r>
            <a:br>
              <a:rPr lang="vi-VN" altLang="en-US"/>
            </a:br>
            <a:endParaRPr lang="vi-V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marL="0" indent="0" algn="ctr">
              <a:lnSpc>
                <a:spcPct val="380000"/>
              </a:lnSpc>
              <a:buNone/>
            </a:pPr>
            <a:r>
              <a:rPr lang="vi-VN" altLang="en-US" b="1">
                <a:sym typeface="+mn-ea"/>
              </a:rPr>
              <a:t>CẢM ƠN SỰ CHÚ Ý CỦA QUÝ VỊ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012E05-F211-425B-9E87-C5267AAD67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RESOURCE_PATHS_HASH_PRESENTER" val="771dc0f35d96c5be93123f654c3aa2dafa54bd3"/>
</p:tagLst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TC104033925[[fn=Droplet]]</Template>
  <TotalTime>0</TotalTime>
  <Words>2446</Words>
  <Application>WPS Presentation</Application>
  <PresentationFormat>On-screen Show (4:3)</PresentationFormat>
  <Paragraphs>176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  <vt:variant>
        <vt:lpstr>自定义放映</vt:lpstr>
      </vt:variant>
      <vt:variant>
        <vt:i4>2</vt:i4>
      </vt:variant>
    </vt:vector>
  </HeadingPairs>
  <TitlesOfParts>
    <vt:vector size="27" baseType="lpstr">
      <vt:lpstr>Arial</vt:lpstr>
      <vt:lpstr>SimSun</vt:lpstr>
      <vt:lpstr>Wingdings</vt:lpstr>
      <vt:lpstr>Tw Cen MT</vt:lpstr>
      <vt:lpstr>Microsoft YaHei</vt:lpstr>
      <vt:lpstr>Arial Unicode MS</vt:lpstr>
      <vt:lpstr>Calibri</vt:lpstr>
      <vt:lpstr>Times New Roman</vt:lpstr>
      <vt:lpstr>Tahoma</vt:lpstr>
      <vt:lpstr>Wingdings</vt:lpstr>
      <vt:lpstr>Droplet</vt:lpstr>
      <vt:lpstr>PowerPoint 演示文稿</vt:lpstr>
      <vt:lpstr>PowerPoint 演示文稿</vt:lpstr>
      <vt:lpstr>PowerPoint 演示文稿</vt:lpstr>
      <vt:lpstr>THỜI KÌ VIỆN ĐẠI HỌC CẦN (1966-1975)</vt:lpstr>
      <vt:lpstr>THỜI KÌ VIỆN ĐẠI HỌC CẦN (1966-1975)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PowerPoint 演示文稿</vt:lpstr>
      <vt:lpstr>KHTN</vt:lpstr>
      <vt:lpstr>CNTT</vt:lpstr>
    </vt:vector>
  </TitlesOfParts>
  <Company>HillsOrient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Geetesh Bajaj</dc:creator>
  <cp:lastModifiedBy>Tran My Ngoc B2611267</cp:lastModifiedBy>
  <cp:revision>87</cp:revision>
  <dcterms:created xsi:type="dcterms:W3CDTF">2001-08-06T05:40:00Z</dcterms:created>
  <dcterms:modified xsi:type="dcterms:W3CDTF">2026-10-09T04:08:29Z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AC8CF5FE1F234D978ABDA5CBE002090C_13</vt:lpwstr>
  </property>
</Properties>
</file>